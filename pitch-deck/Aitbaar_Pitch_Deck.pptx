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Aitbaar (اعتبار)</a:t>
            </a:r>
          </a:p>
        </p:txBody>
      </p:sp>
      <p:sp>
        <p:nvSpPr>
          <p:cNvPr id="3" name="Subtitle 2"/>
          <p:cNvSpPr>
            <a:spLocks noGrp="1"/>
          </p:cNvSpPr>
          <p:nvPr>
            <p:ph type="subTitle" idx="1"/>
          </p:nvPr>
        </p:nvSpPr>
        <p:spPr/>
        <p:txBody>
          <a:bodyPr/>
          <a:lstStyle/>
          <a:p>
            <a:r>
              <a:t>اعتبار، جو کاروبار بڑھائے (Trust that grows your business)</a:t>
            </a:r>
          </a:p>
          <a:p>
            <a:r>
              <a:t>AI credit intelligence for SME lending in Pakistan</a:t>
            </a:r>
          </a:p>
          <a:p/>
          <a:p>
            <a:r>
              <a:t>Thematic area: Artificial Intelligence in Banking</a:t>
            </a:r>
          </a:p>
          <a:p>
            <a:r>
              <a:t>Team: [Your Team Name] - UBL National Innovation 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 Pakistan has around 5 million SMEs. They produce 40% of GDP, 25% of exports, and about 80% of non-agriculture jobs.</a:t>
            </a:r>
          </a:p>
          <a:p>
            <a:r>
              <a:t>• Yet only about 155,000 of them hold a bank loan, and SMEs receive just 6 to 7% of private sector credit.</a:t>
            </a:r>
          </a:p>
          <a:p>
            <a:r>
              <a:t>• The barrier is not risk appetite. It is friction on both sides of the counter.</a:t>
            </a:r>
          </a:p>
          <a:p>
            <a:r>
              <a:t>• The applicant makes 3 to 5 branch trips per loan because the document checklist is discovered by the officer as he reads, never given up front. Decisions take weeks. Rejections come with no reason.</a:t>
            </a:r>
          </a:p>
          <a:p>
            <a:r>
              <a:t>• The loan officer reads 40 to 60 pages per file by hand. His cost to assess a PKR 500,000 file is nearly the same as a PKR 50 million file, so small tickets get rationed.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This Matters Now</a:t>
            </a:r>
          </a:p>
        </p:txBody>
      </p:sp>
      <p:sp>
        <p:nvSpPr>
          <p:cNvPr id="3" name="Content Placeholder 2"/>
          <p:cNvSpPr>
            <a:spLocks noGrp="1"/>
          </p:cNvSpPr>
          <p:nvPr>
            <p:ph idx="1"/>
          </p:nvPr>
        </p:nvSpPr>
        <p:spPr/>
        <p:txBody>
          <a:bodyPr/>
          <a:lstStyle/>
          <a:p>
            <a:r>
              <a:t>• Pakistan targets 750,000 SME borrowers and PKR 1.5 trillion in SME financing by June 2028, against 276,578 borrowers in June 2025.</a:t>
            </a:r>
          </a:p>
          <a:p>
            <a:r>
              <a:t>• That is roughly 473,000 net new borrowers to assess in three years.</a:t>
            </a:r>
          </a:p>
          <a:p>
            <a:r>
              <a:t>• No bank can hire its way to that number. The State Bank has already told banks to use technology to close the gap.</a:t>
            </a:r>
          </a:p>
          <a:p>
            <a:r>
              <a:t>• The alternative to a system like Aitbaar is a hiring plan that does not exist.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Solution</a:t>
            </a:r>
          </a:p>
        </p:txBody>
      </p:sp>
      <p:sp>
        <p:nvSpPr>
          <p:cNvPr id="3" name="Content Placeholder 2"/>
          <p:cNvSpPr>
            <a:spLocks noGrp="1"/>
          </p:cNvSpPr>
          <p:nvPr>
            <p:ph idx="1"/>
          </p:nvPr>
        </p:nvSpPr>
        <p:spPr/>
        <p:txBody>
          <a:bodyPr/>
          <a:lstStyle/>
          <a:p>
            <a:r>
              <a:t>Aitbaar is a two-sided AI credit origination layer.</a:t>
            </a:r>
          </a:p>
          <a:p/>
          <a:p>
            <a:r>
              <a:t>• The SME applies on WhatsApp in Urdu, from his shop, by sending photos of his CNIC, bank statement, and utility bills. He consents once and receives the full document list up front. No branch visit to apply.</a:t>
            </a:r>
          </a:p>
          <a:p>
            <a:r>
              <a:t>• The loan officer receives a one-page credit brief instead of fifty pages. Score, risk tier, the factors behind the score, any fraud flags, and a recommended loan range. He approves, declines, or requests exactly the one missing document.</a:t>
            </a:r>
          </a:p>
          <a:p/>
          <a:p>
            <a:r>
              <a:t>WhatsApp for the application, autopilot for the underwriting, the officer still holding the controls.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Content Placeholder 2"/>
          <p:cNvSpPr>
            <a:spLocks noGrp="1"/>
          </p:cNvSpPr>
          <p:nvPr>
            <p:ph idx="1"/>
          </p:nvPr>
        </p:nvSpPr>
        <p:spPr/>
        <p:txBody>
          <a:bodyPr/>
          <a:lstStyle/>
          <a:p>
            <a:r>
              <a:t>• Extract: an AI vision model reads every document into structured data.</a:t>
            </a:r>
          </a:p>
          <a:p>
            <a:r>
              <a:t>• Verify: rules cross-check the documents and flag mismatches, like a name on the CNIC that does not match the bank statement.</a:t>
            </a:r>
          </a:p>
          <a:p>
            <a:r>
              <a:t>• Score: a machine learning model produces a repayment score, risk tier, and loan range.</a:t>
            </a:r>
          </a:p>
          <a:p>
            <a:r>
              <a:t>• Explain: the system shows the exact factors behind that score.</a:t>
            </a:r>
          </a:p>
          <a:p>
            <a:r>
              <a:t>• Brief: a one-page summary is written in Urdu and English for the officer.</a:t>
            </a:r>
          </a:p>
          <a:p/>
          <a:p>
            <a:r>
              <a:t>The whole pipeline runs in under 60 seconds per application.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Makes It Defensible (Value Proposition)</a:t>
            </a:r>
          </a:p>
        </p:txBody>
      </p:sp>
      <p:sp>
        <p:nvSpPr>
          <p:cNvPr id="3" name="Content Placeholder 2"/>
          <p:cNvSpPr>
            <a:spLocks noGrp="1"/>
          </p:cNvSpPr>
          <p:nvPr>
            <p:ph idx="1"/>
          </p:nvPr>
        </p:nvSpPr>
        <p:spPr/>
        <p:txBody>
          <a:bodyPr/>
          <a:lstStyle/>
          <a:p>
            <a:r>
              <a:t>• Explainable by design: Every score comes with the factors behind it, which is what makes it deployable inside a regulated bank. A black box cannot be.</a:t>
            </a:r>
          </a:p>
          <a:p>
            <a:r>
              <a:t>• Consent-first: The applicant authorizes every document. We never scrape wallet or POS data. That survives scrutiny from a credit risk reviewer.</a:t>
            </a:r>
          </a:p>
          <a:p>
            <a:r>
              <a:t>• The decision stays with the officer: Aitbaar recommends, the officer decides, and every decision is recorded with its reasoning for a full audit trail.</a:t>
            </a:r>
          </a:p>
          <a:p>
            <a:r>
              <a:t>• Built for the Pakistani reality: Phone photos, Urdu, documents the applicant already has. No assumptions that do not hold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Customer and Market</a:t>
            </a:r>
          </a:p>
        </p:txBody>
      </p:sp>
      <p:sp>
        <p:nvSpPr>
          <p:cNvPr id="3" name="Content Placeholder 2"/>
          <p:cNvSpPr>
            <a:spLocks noGrp="1"/>
          </p:cNvSpPr>
          <p:nvPr>
            <p:ph idx="1"/>
          </p:nvPr>
        </p:nvSpPr>
        <p:spPr/>
        <p:txBody>
          <a:bodyPr/>
          <a:lstStyle/>
          <a:p>
            <a:r>
              <a:t>• The customer who pays: Pakistani commercial and microfinance banks. Specifically SME Banking, Digital Banking, and Credit Risk. First target is UBL.</a:t>
            </a:r>
          </a:p>
          <a:p>
            <a:r>
              <a:t>• The users: UBL loan officers on one side, SME owners seeking PKR 500,000 to 7.5 million on the other. Retail and wholesale trade, food, textiles, light manufacturing.</a:t>
            </a:r>
          </a:p>
          <a:p>
            <a:r>
              <a:t>• Why UBL fits: 11 million customers, a Temenos loan origination system already live across five segments including SME, an existing WhatsApp banking channel, an IFC advisory engagement aimed at reducing SME loan turnaround time, and live SME products in Karobar Loan and the PM Youth Business Loan.</a:t>
            </a:r>
          </a:p>
          <a:p>
            <a:r>
              <a:t>• The SME is the user. The bank is the customer. We are never between them on price.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Model</a:t>
            </a:r>
          </a:p>
        </p:txBody>
      </p:sp>
      <p:sp>
        <p:nvSpPr>
          <p:cNvPr id="3" name="Content Placeholder 2"/>
          <p:cNvSpPr>
            <a:spLocks noGrp="1"/>
          </p:cNvSpPr>
          <p:nvPr>
            <p:ph idx="1"/>
          </p:nvPr>
        </p:nvSpPr>
        <p:spPr/>
        <p:txBody>
          <a:bodyPr/>
          <a:lstStyle/>
          <a:p>
            <a:r>
              <a:t>• B2B SaaS to banks, priced per assessed application, because that is the unit a bank already thinks in. We do not lend and we do not take credit risk. We sell decision throughput.</a:t>
            </a:r>
          </a:p>
          <a:p>
            <a:r>
              <a:t>• Per-application fee of PKR 300 to 800 against a marginal cost of roughly PKR 30, so gross margin above 90%. Plus an annual per-bank platform licence and a one-time integration fee.</a:t>
            </a:r>
          </a:p>
          <a:p>
            <a:r>
              <a:t>• Market context: even at PKR 500 per assessment, the 473,000 net new borrowers to be assessed by 2028, plus every rejected application that must also be assessed, is a market of hundreds of millions of rupees a year.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Prototype (Live)</a:t>
            </a:r>
          </a:p>
        </p:txBody>
      </p:sp>
      <p:sp>
        <p:nvSpPr>
          <p:cNvPr id="3" name="Content Placeholder 2"/>
          <p:cNvSpPr>
            <a:spLocks noGrp="1"/>
          </p:cNvSpPr>
          <p:nvPr>
            <p:ph idx="1"/>
          </p:nvPr>
        </p:nvSpPr>
        <p:spPr/>
        <p:txBody>
          <a:bodyPr/>
          <a:lstStyle/>
          <a:p>
            <a:r>
              <a:t>This is a working system, not a mockup.</a:t>
            </a:r>
          </a:p>
          <a:p/>
          <a:p>
            <a:r>
              <a:t>• A live WhatsApp number that accepts images and PDFs and replies in Urdu.</a:t>
            </a:r>
          </a:p>
          <a:p>
            <a:r>
              <a:t>• A deployed loan officer dashboard.</a:t>
            </a:r>
          </a:p>
          <a:p>
            <a:r>
              <a:t>• A Python AI engine connecting them, processing a fresh file in under 60 seconds.</a:t>
            </a:r>
          </a:p>
          <a:p>
            <a:r>
              <a:t>• Three demo applicants: a clean approve, a borderline case, and one carrying a name mismatch fraud flag. The contrast between the three tells the whole story.</a:t>
            </a:r>
          </a:p>
          <a:p/>
          <a:p>
            <a:r>
              <a:t>Links (to be made clickable):</a:t>
            </a:r>
          </a:p>
          <a:p>
            <a:r>
              <a:t>[View Demo Video]</a:t>
            </a:r>
          </a:p>
          <a:p>
            <a:r>
              <a:t>[Open Live Dashboard]</a:t>
            </a:r>
          </a:p>
          <a:p>
            <a:r>
              <a:t>[Try on WhatsApp]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Roadmap and Implementation Plan</a:t>
            </a:r>
          </a:p>
        </p:txBody>
      </p:sp>
      <p:sp>
        <p:nvSpPr>
          <p:cNvPr id="3" name="Content Placeholder 2"/>
          <p:cNvSpPr>
            <a:spLocks noGrp="1"/>
          </p:cNvSpPr>
          <p:nvPr>
            <p:ph idx="1"/>
          </p:nvPr>
        </p:nvSpPr>
        <p:spPr/>
        <p:txBody>
          <a:bodyPr/>
          <a:lstStyle/>
          <a:p>
            <a:r>
              <a:t>• Now: working prototype on synthetic data, validated end to end.</a:t>
            </a:r>
          </a:p>
          <a:p>
            <a:r>
              <a:t>• Pilot: run Aitbaar in parallel with UBL's manual process on a few hundred real files in one city, one product. Compare turnaround, officer minutes per file, and default outcomes before any live decision. Retrain the model on UBL's own portfolio data.</a:t>
            </a:r>
          </a:p>
          <a:p>
            <a:r>
              <a:t>• Integrate: plug into UBL's existing Temenos loan origination stack and its WhatsApp banking number. Distribution to 11 million customers is UBL's, not ours.</a:t>
            </a:r>
          </a:p>
          <a:p>
            <a:r>
              <a:t>• Scale: extend to PM Youth Business Loan partner banks and microfinance banks, in line with the State Bank SME finance agenda.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a:t>
            </a:r>
          </a:p>
        </p:txBody>
      </p:sp>
      <p:sp>
        <p:nvSpPr>
          <p:cNvPr id="3" name="Content Placeholder 2"/>
          <p:cNvSpPr>
            <a:spLocks noGrp="1"/>
          </p:cNvSpPr>
          <p:nvPr>
            <p:ph idx="1"/>
          </p:nvPr>
        </p:nvSpPr>
        <p:spPr/>
        <p:txBody>
          <a:bodyPr/>
          <a:lstStyle/>
          <a:p>
            <a:r>
              <a:t>Proof point: 1st place out of 162 teams at the Code for Pakistan AI for Civic Innovation Hackathon, shipped a WhatsApp-native AI product for Pakistani users.</a:t>
            </a:r>
          </a:p>
          <a:p/>
          <a:p>
            <a:r>
              <a:t>• [Name 1] - AI engine and backend</a:t>
            </a:r>
          </a:p>
          <a:p>
            <a:r>
              <a:t>• [Name 2] - WhatsApp bot</a:t>
            </a:r>
          </a:p>
          <a:p>
            <a:r>
              <a:t>• [Name 3] - Loan officer dashboard</a:t>
            </a:r>
          </a:p>
          <a:p>
            <a:r>
              <a:t>• [Name 4] - Business and pitch owner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r>
              <a:t>Aitbaar turns an SME loan file from weeks of paperwork into a same-day, explainable decision, on a channel the bank already runs.</a:t>
            </a:r>
          </a:p>
          <a:p/>
          <a:p>
            <a:r>
              <a:t>اعتبار، جو کاروبار بڑھائے</a:t>
            </a:r>
          </a:p>
          <a:p/>
          <a:p>
            <a:r>
              <a:t>Contact &amp; Links:</a:t>
            </a:r>
          </a:p>
          <a:p>
            <a:r>
              <a:t>[Demo Video]</a:t>
            </a:r>
          </a:p>
          <a:p>
            <a:r>
              <a:t>[Live Dashboard]</a:t>
            </a:r>
          </a:p>
          <a:p>
            <a:r>
              <a:t>[WhatsApp QR]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